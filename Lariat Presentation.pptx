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5"/>
    <p:restoredTop sz="81847"/>
  </p:normalViewPr>
  <p:slideViewPr>
    <p:cSldViewPr snapToGrid="0" snapToObjects="1">
      <p:cViewPr varScale="1">
        <p:scale>
          <a:sx n="131" d="100"/>
          <a:sy n="131" d="100"/>
        </p:scale>
        <p:origin x="2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Sheet1!$B$2</c:f>
              <c:numCache>
                <c:formatCode>_("$"* #,##0_);_("$"* \(#,##0\);_("$"* "-"??_);_(@_)</c:formatCode>
                <c:ptCount val="1"/>
                <c:pt idx="0">
                  <c:v>34545742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0-7B46-B29B-867B3D398F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Sheet1!$C$2</c:f>
              <c:numCache>
                <c:formatCode>_("$"* #,##0_);_("$"* \(#,##0\);_("$"* "-"??_);_(@_)</c:formatCode>
                <c:ptCount val="1"/>
                <c:pt idx="0">
                  <c:v>30320298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70-7B46-B29B-867B3D398F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5993904"/>
        <c:axId val="1275995584"/>
      </c:barChart>
      <c:catAx>
        <c:axId val="1275993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75995584"/>
        <c:crosses val="autoZero"/>
        <c:auto val="1"/>
        <c:lblAlgn val="ctr"/>
        <c:lblOffset val="100"/>
        <c:noMultiLvlLbl val="0"/>
      </c:catAx>
      <c:valAx>
        <c:axId val="127599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99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Sheet1!$B$2</c:f>
              <c:numCache>
                <c:formatCode>_("$"* #,##0_);_("$"* \(#,##0\);_("$"* "-"??_);_(@_)</c:formatCode>
                <c:ptCount val="1"/>
                <c:pt idx="0">
                  <c:v>36908421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4A-7845-A843-31672F6808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Sheet1!$C$2</c:f>
              <c:numCache>
                <c:formatCode>_("$"* #,##0_);_("$"* \(#,##0\);_("$"* "-"??_);_(@_)</c:formatCode>
                <c:ptCount val="1"/>
                <c:pt idx="0">
                  <c:v>30124846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4A-7845-A843-31672F6808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5993904"/>
        <c:axId val="1275995584"/>
      </c:barChart>
      <c:catAx>
        <c:axId val="1275993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75995584"/>
        <c:crosses val="autoZero"/>
        <c:auto val="1"/>
        <c:lblAlgn val="ctr"/>
        <c:lblOffset val="100"/>
        <c:noMultiLvlLbl val="0"/>
      </c:catAx>
      <c:valAx>
        <c:axId val="127599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99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Sheet1!$B$2</c:f>
              <c:numCache>
                <c:formatCode>_("$"* #,##0_);_("$"* \(#,##0\);_("$"* "-"??_);_(@_)</c:formatCode>
                <c:ptCount val="1"/>
                <c:pt idx="0">
                  <c:v>36850715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6-B349-B56B-D028986E14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Sheet1!$C$2</c:f>
              <c:numCache>
                <c:formatCode>_("$"* #,##0_);_("$"* \(#,##0\);_("$"* "-"??_);_(@_)</c:formatCode>
                <c:ptCount val="1"/>
                <c:pt idx="0">
                  <c:v>30320298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06-B349-B56B-D028986E1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5993904"/>
        <c:axId val="1275995584"/>
      </c:barChart>
      <c:catAx>
        <c:axId val="1275993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75995584"/>
        <c:crosses val="autoZero"/>
        <c:auto val="1"/>
        <c:lblAlgn val="ctr"/>
        <c:lblOffset val="100"/>
        <c:noMultiLvlLbl val="0"/>
      </c:catAx>
      <c:valAx>
        <c:axId val="127599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99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Sheet1!$B$2</c:f>
              <c:numCache>
                <c:formatCode>_("$"* #,##0_);_("$"* \(#,##0\);_("$"* "-"??_);_(@_)</c:formatCode>
                <c:ptCount val="1"/>
                <c:pt idx="0">
                  <c:v>43823745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87-AA46-A95B-C9412C69A8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cat>
          <c:val>
            <c:numRef>
              <c:f>Sheet1!$C$2</c:f>
              <c:numCache>
                <c:formatCode>_("$"* #,##0_);_("$"* \(#,##0\);_("$"* "-"??_);_(@_)</c:formatCode>
                <c:ptCount val="1"/>
                <c:pt idx="0">
                  <c:v>32184145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87-AA46-A95B-C9412C69A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5993904"/>
        <c:axId val="1275995584"/>
      </c:barChart>
      <c:catAx>
        <c:axId val="12759939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75995584"/>
        <c:crosses val="autoZero"/>
        <c:auto val="1"/>
        <c:lblAlgn val="ctr"/>
        <c:lblOffset val="100"/>
        <c:noMultiLvlLbl val="0"/>
      </c:catAx>
      <c:valAx>
        <c:axId val="127599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99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7A63A-01AF-314E-81A7-B94D57296C84}" type="datetimeFigureOut">
              <a:rPr lang="en-US" smtClean="0"/>
              <a:t>9/13/20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D594B-382A-9949-8C24-C7338F891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 everyone. </a:t>
            </a:r>
          </a:p>
          <a:p>
            <a:r>
              <a:rPr lang="en-US" dirty="0"/>
              <a:t>I was given data that surrounds </a:t>
            </a:r>
            <a:r>
              <a:rPr lang="en-US" dirty="0" err="1"/>
              <a:t>Larait's</a:t>
            </a:r>
            <a:r>
              <a:rPr lang="en-US" dirty="0"/>
              <a:t> car rental sales from 2018.</a:t>
            </a:r>
          </a:p>
          <a:p>
            <a:r>
              <a:rPr lang="en-US" dirty="0"/>
              <a:t>I was tasked with analyzing the data and finding a few ways that they could boost your profits in the upcoming year.</a:t>
            </a:r>
          </a:p>
          <a:p>
            <a:r>
              <a:rPr lang="en-US" dirty="0"/>
              <a:t>So we are here today to discuss a few ways Lariat could make that goal a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70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Revenue – just under $65M</a:t>
            </a:r>
          </a:p>
          <a:p>
            <a:endParaRPr lang="en-US" dirty="0"/>
          </a:p>
          <a:p>
            <a:r>
              <a:rPr lang="en-US" dirty="0"/>
              <a:t>1,839 vehicles</a:t>
            </a:r>
          </a:p>
          <a:p>
            <a:r>
              <a:rPr lang="en-US" dirty="0"/>
              <a:t>41 branches in 41 cities</a:t>
            </a:r>
          </a:p>
          <a:p>
            <a:r>
              <a:rPr lang="en-US" dirty="0"/>
              <a:t>53.3% profitability Jan – Nov 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be going through each of these options in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89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150 least profitable – cost $1,579,163.41 - 25.6%</a:t>
            </a:r>
          </a:p>
          <a:p>
            <a:r>
              <a:rPr lang="en-US" dirty="0"/>
              <a:t>150 most profitable – cost $1,383,708.04 - 68.6%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Total Revenue - $67,033,267</a:t>
            </a:r>
          </a:p>
          <a:p>
            <a:r>
              <a:rPr lang="en-US" dirty="0"/>
              <a:t>53.3% to 55.1%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79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Total Revenue - $67,171,013</a:t>
            </a:r>
          </a:p>
          <a:p>
            <a:r>
              <a:rPr lang="en-US" dirty="0"/>
              <a:t>- 14.2% of rentals were only 1 day</a:t>
            </a:r>
          </a:p>
          <a:p>
            <a:r>
              <a:rPr lang="en-US" dirty="0"/>
              <a:t>- Average rental length of 3.99 days </a:t>
            </a:r>
          </a:p>
          <a:p>
            <a:r>
              <a:rPr lang="en-US" dirty="0"/>
              <a:t>- Cost would be the same since no change in cost variables</a:t>
            </a:r>
          </a:p>
          <a:p>
            <a:r>
              <a:rPr lang="en-US" dirty="0"/>
              <a:t>- 53.3% to 54.9%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57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Top 10 markets yield over 54% profitability.</a:t>
            </a:r>
          </a:p>
          <a:p>
            <a:r>
              <a:rPr lang="en-US" dirty="0"/>
              <a:t>Houston, Los Angeles, El Paso are just a few among these top markets</a:t>
            </a:r>
          </a:p>
          <a:p>
            <a:endParaRPr lang="en-US" dirty="0"/>
          </a:p>
          <a:p>
            <a:r>
              <a:rPr lang="en-US" dirty="0"/>
              <a:t>What would happen if opened in these 10 markets?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Total Revenue - $82,017,890 (highest revenue)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profit margin would see slight bump of 0.2%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0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Buy more cars – Yields the highest increase in profit margin</a:t>
            </a:r>
          </a:p>
          <a:p>
            <a:r>
              <a:rPr lang="en-US" dirty="0"/>
              <a:t>2. Min 2 day rentals – Keeps costs the same, increases revenue.</a:t>
            </a:r>
          </a:p>
          <a:p>
            <a:r>
              <a:rPr lang="en-US" dirty="0"/>
              <a:t>3. New branches – Results in highest revenue, but also most costs. Profit margin is essentially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D594B-382A-9949-8C24-C7338F891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7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9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9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9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39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1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9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4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8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292F404-E46B-7748-939F-2D8AE2D2FCB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1C0DBD7-1C0B-7C47-AD83-8DBCD465D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7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0C4F7-4A54-C744-8431-08F22B19D1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Lariat: Maximizing vehicle rental profits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4A550-EE88-D44A-B264-DF2048F4C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presentation by</a:t>
            </a:r>
          </a:p>
          <a:p>
            <a:endParaRPr lang="en-US" dirty="0"/>
          </a:p>
          <a:p>
            <a:r>
              <a:rPr lang="en-US" dirty="0"/>
              <a:t>Cameron Respicio</a:t>
            </a:r>
          </a:p>
        </p:txBody>
      </p:sp>
    </p:spTree>
    <p:extLst>
      <p:ext uri="{BB962C8B-B14F-4D97-AF65-F5344CB8AC3E}">
        <p14:creationId xmlns:p14="http://schemas.microsoft.com/office/powerpoint/2010/main" val="255856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C26E-C5F4-1E45-B597-07C6D3EF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A2F4-0E75-574A-8CC7-481341C505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1,839 unique vehicle ID’s</a:t>
            </a:r>
          </a:p>
          <a:p>
            <a:r>
              <a:rPr lang="en-US" dirty="0"/>
              <a:t>41 branches</a:t>
            </a:r>
          </a:p>
          <a:p>
            <a:r>
              <a:rPr lang="en-US" dirty="0"/>
              <a:t>53.3% profit margin over 11 months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648ED73-7FD5-6840-8EE9-C12A76EFCC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751818"/>
              </p:ext>
            </p:extLst>
          </p:nvPr>
        </p:nvGraphicFramePr>
        <p:xfrm>
          <a:off x="5853683" y="2302046"/>
          <a:ext cx="4270375" cy="3773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386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7524BC-AFE6-1948-B696-89F59A2D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might we increase profits?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2F681-FE15-BD47-B1A0-13721745A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Buy more profitable cars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Increase minimum rental length to two days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Open a new branch</a:t>
            </a:r>
          </a:p>
        </p:txBody>
      </p:sp>
    </p:spTree>
    <p:extLst>
      <p:ext uri="{BB962C8B-B14F-4D97-AF65-F5344CB8AC3E}">
        <p14:creationId xmlns:p14="http://schemas.microsoft.com/office/powerpoint/2010/main" val="219291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2F03-2DCC-BC43-9703-E868C541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US" dirty="0"/>
              <a:t>Buy more profitable cars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499EF-297D-DC42-9120-ABF6C5483E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Top 150 cars average 68.6% profitability.</a:t>
            </a:r>
          </a:p>
          <a:p>
            <a:r>
              <a:rPr lang="en-US" dirty="0"/>
              <a:t>Bottom 150 cars average 25.6% profitability.</a:t>
            </a:r>
          </a:p>
          <a:p>
            <a:r>
              <a:rPr lang="en-US" dirty="0"/>
              <a:t>Profitability increases by 1.8%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473CA52-7AD4-9D48-B07C-06444450E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5649248"/>
              </p:ext>
            </p:extLst>
          </p:nvPr>
        </p:nvGraphicFramePr>
        <p:xfrm>
          <a:off x="5853683" y="2302046"/>
          <a:ext cx="4270375" cy="3773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113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903A-171D-B84A-857A-0765CBAF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minimum rental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817C-E974-4641-829D-25CC151104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minimum was increased to 2 days.</a:t>
            </a:r>
          </a:p>
          <a:p>
            <a:r>
              <a:rPr lang="en-US" dirty="0"/>
              <a:t>Profitability increased by 1.6%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1503D53-636B-C542-94C9-B0BE989106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789642"/>
              </p:ext>
            </p:extLst>
          </p:nvPr>
        </p:nvGraphicFramePr>
        <p:xfrm>
          <a:off x="5853683" y="2302046"/>
          <a:ext cx="4270375" cy="3773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0748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FE7B7-78D5-3944-B2A7-B65B81F3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additional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890B-1831-1344-8EC2-BDC596768A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Open another branch in thriving markets</a:t>
            </a:r>
          </a:p>
          <a:p>
            <a:r>
              <a:rPr lang="en-US" dirty="0"/>
              <a:t>If 10 branches were to open</a:t>
            </a:r>
          </a:p>
          <a:p>
            <a:r>
              <a:rPr lang="en-US" dirty="0"/>
              <a:t>Increase in 0.2%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DF3912-D288-3144-A49F-2D99C574C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545323"/>
              </p:ext>
            </p:extLst>
          </p:nvPr>
        </p:nvGraphicFramePr>
        <p:xfrm>
          <a:off x="5851315" y="2302046"/>
          <a:ext cx="4270375" cy="3773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9299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D2C5DE-818C-CE47-8E76-A6F162DE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EA06F-4083-AE4A-8C69-64D027846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Buy more profitable cars – 1.8% increase in profitability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Increase minimum rental length to two days – 1.6% increase in profitability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Open a new branch – 0.2% increase in profitability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1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121036-1E7D-C648-8364-6FF9921D2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4033839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{F9FDAACE-014C-DD4E-906D-7D999E3D215A}tf10001120</Template>
  <TotalTime>4769</TotalTime>
  <Words>419</Words>
  <Application>Microsoft Macintosh PowerPoint</Application>
  <PresentationFormat>Widescreen</PresentationFormat>
  <Paragraphs>73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Parcel</vt:lpstr>
      <vt:lpstr>Lariat: Maximizing vehicle rental profits</vt:lpstr>
      <vt:lpstr>What we know</vt:lpstr>
      <vt:lpstr>How might we increase profits?</vt:lpstr>
      <vt:lpstr>Buy more profitable cars</vt:lpstr>
      <vt:lpstr>Increase minimum rental length</vt:lpstr>
      <vt:lpstr>Open additional branch</vt:lpstr>
      <vt:lpstr>In summary</vt:lpstr>
      <vt:lpstr>Thank you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Cameron Respicio</dc:creator>
  <cp:lastModifiedBy>Cameron Respicio</cp:lastModifiedBy>
  <cp:revision>13</cp:revision>
  <dcterms:created xsi:type="dcterms:W3CDTF">2020-08-23T21:59:47Z</dcterms:created>
  <dcterms:modified xsi:type="dcterms:W3CDTF">2020-09-13T18:37:52Z</dcterms:modified>
</cp:coreProperties>
</file>